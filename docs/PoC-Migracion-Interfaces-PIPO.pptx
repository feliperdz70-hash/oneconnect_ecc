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79b1a2f-66cb-01fa-6591-aafd34226700}">
          <p14:sldIdLst>
            <p14:sldId id="256"/>
          </p14:sldIdLst>
        </p14:section>
        <p14:section name="Planteamiento" id="{3dc7e2bb-906b-2658-c573-4b155ba7c4d8}">
          <p14:sldIdLst>
            <p14:sldId id="257"/>
            <p14:sldId id="258"/>
            <p14:sldId id="259"/>
          </p14:sldIdLst>
        </p14:section>
        <p14:section name="Componentes en S/4HANA" id="{b5a6a4b4-58d8-7a3f-dd25-a7da53a14b73}">
          <p14:sldIdLst>
            <p14:sldId id="260"/>
            <p14:sldId id="261"/>
            <p14:sldId id="262"/>
            <p14:sldId id="263"/>
            <p14:sldId id="264"/>
          </p14:sldIdLst>
        </p14:section>
        <p14:section name="Componentes en SAP BTP" id="{82208bc1-4bb8-f2c4-ffc9-bb1376585f3f}">
          <p14:sldIdLst>
            <p14:sldId id="265"/>
            <p14:sldId id="266"/>
            <p14:sldId id="267"/>
            <p14:sldId id="268"/>
          </p14:sldIdLst>
        </p14:section>
        <p14:section name="Resultado" id="{81f5ddec-ede7-ec9b-1e9d-99f431e26e62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PoC de migración de interfaces PI/PO. El objetivo de hoy es enseñar los componentes ya configurados y terminar con un alta de un registro en vivo desde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afirmaciones, todas verificadas con capturas en las diapositivas siguientes.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 clave: BTP no aloja la lógica de negocio. La lógica se queda en S/4HANA y BTP hace el papel que hacía PI/PO como middleware: exponer, asegurar y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 cadena de izquierda a derecha. Insistir en que BTP no aloja lógica: es el borde gestionado de la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tabla se crea vacía a propósito: todo lo que aparezca en ella habrá entrado por la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palabra root es la que habilita todo lo que viene después. Sin ella la behavior definition no activa.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está el salto respecto a ABAP clásico: no hay código de persistencia ni de bloqueo. Se declara el comportamiento.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Binding de tipo OData V4 Web API, es decir A2X: pensado para consumo máquina a máquina, no para una interfaz de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documento no se escribe a mano: lo genera el framework. Es la diferencia con la documentación de una interfaz de PI/PO, que se mantiene aparte y se desactualiza.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de seguridad importante para el cliente: el túnel se abre de dentro hacia fuera y la lista de recursos es una lista blanca.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paso no es obligatorio para API Management, pero aísla fallos: si algo se rompe después, el túnel ya está descartado.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Activar la capacidad y dar de alta el runtime son dos pasos distintos. El segundo es el que crea el host público de las APIs.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el punto donde se gobierna: una URL estable para el consumidor, con el backend intercambiable por detrás.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que cierra el argumento. El 200 OK llega desde fuera de la red corporativa, pasando por BTP.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Enseñar primero la tabla vacía. El alta y el PATCH son las dos operaciones que demuestran que la API es transaccional y no de solo lectura.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Conviene decir las desviaciones en voz alta antes de que las pregunten. Ninguna afecta a la validez del patrón: todas son decisiones para no bloquear la prueba.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spc="250" kern="0" dirty="0">
                <a:solidFill>
                  <a:srgbClr val="9FC7C6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22960" y="1874520"/>
            <a:ext cx="105156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822960" y="3840480"/>
            <a:ext cx="10789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9FC7C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1"/>
          <p:cNvSpPr/>
          <p:nvPr>
            <p:ph idx="104" type="body" hasCustomPrompt="1"/>
          </p:nvPr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4A657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PoC migración de interfaces PI/PO  ·  Onibex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ONENT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PoC migración de interfaces PI/PO  ·  Onibex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STACAD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276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572"/>
                </a:solidFill>
              </a:rPr>
              <a:t>PoC migración de interfaces PI/PO  ·  Onibex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155680" y="632764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b="1" spc="250" kern="0" dirty="0">
                <a:solidFill>
                  <a:srgbClr val="9FC7C6"/>
                </a:solidFill>
              </a:rPr>
              <a:t>PRUEBA DE CONCEPTO</a:t>
            </a:r>
            <a:endParaRPr lang="en-US" sz="15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22960" y="1874520"/>
            <a:ext cx="10515600" cy="19202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De PI/PO a APIs</a:t>
            </a:r>
            <a:endParaRPr lang="en-US" sz="5400" dirty="0"/>
          </a:p>
        </p:txBody>
      </p:sp>
      <p:sp>
        <p:nvSpPr>
          <p:cNvPr id="4" name="Text 1"/>
          <p:cNvSpPr/>
          <p:nvPr>
            <p:ph idx="103" type="body" hasCustomPrompt="1"/>
          </p:nvPr>
        </p:nvSpPr>
        <p:spPr>
          <a:xfrm>
            <a:off x="822960" y="3840480"/>
            <a:ext cx="1078992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9FC7C6"/>
                </a:solidFill>
              </a:rPr>
              <a:t>Un objeto de negocio RAP sobre S/4HANA 2023, publicado y consumido a través de SAP BTP</a:t>
            </a:r>
            <a:endParaRPr lang="en-US" sz="2000" dirty="0"/>
          </a:p>
        </p:txBody>
      </p:sp>
      <p:sp>
        <p:nvSpPr>
          <p:cNvPr id="5" name="Text 1"/>
          <p:cNvSpPr/>
          <p:nvPr>
            <p:ph idx="104" type="body" hasCustomPrompt="1"/>
          </p:nvPr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572"/>
                </a:solidFill>
              </a:rPr>
              <a:t>Onibex para Cemex  ·  21 de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Qué demuestra esta prueba</a:t>
            </a:r>
            <a:endParaRPr lang="en-US" sz="3400" dirty="0"/>
          </a:p>
        </p:txBody>
      </p:sp>
      <p:sp>
        <p:nvSpPr>
          <p:cNvPr id="3" name="numero"/>
          <p:cNvSpPr/>
          <p:nvPr/>
        </p:nvSpPr>
        <p:spPr>
          <a:xfrm>
            <a:off x="566928" y="1426464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26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35024" y="13716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Un objeto de negocio nuevo en S/4HANA 2023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335024" y="17556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</a:rPr>
              <a:t>Tabla propia y vista CDS, con comportamiento transaccional construido con RAP. Sin ABAP clásico y sin SEGW.</a:t>
            </a:r>
            <a:endParaRPr lang="en-US" sz="1400" dirty="0"/>
          </a:p>
        </p:txBody>
      </p:sp>
      <p:sp>
        <p:nvSpPr>
          <p:cNvPr id="7" name="numero"/>
          <p:cNvSpPr/>
          <p:nvPr/>
        </p:nvSpPr>
        <p:spPr>
          <a:xfrm>
            <a:off x="566928" y="2596896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5968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35024" y="2542032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Expuesto como API OData V4 estándar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335024" y="29260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</a:rPr>
              <a:t>Service definition y service binding A2X. El contrato se publica solo: $metadata lo describe por completo.</a:t>
            </a:r>
            <a:endParaRPr lang="en-US" sz="1400" dirty="0"/>
          </a:p>
        </p:txBody>
      </p:sp>
      <p:sp>
        <p:nvSpPr>
          <p:cNvPr id="11" name="numero"/>
          <p:cNvSpPr/>
          <p:nvPr/>
        </p:nvSpPr>
        <p:spPr>
          <a:xfrm>
            <a:off x="566928" y="3767328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767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3712464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Publicado a través de SAP BTP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335024" y="4096512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</a:rPr>
              <a:t>Cloud Connector para el túnel seguro y API Management como punto de entrada único y gobernado.</a:t>
            </a:r>
            <a:endParaRPr lang="en-US" sz="1400" dirty="0"/>
          </a:p>
        </p:txBody>
      </p:sp>
      <p:sp>
        <p:nvSpPr>
          <p:cNvPr id="15" name="numero"/>
          <p:cNvSpPr/>
          <p:nvPr/>
        </p:nvSpPr>
        <p:spPr>
          <a:xfrm>
            <a:off x="566928" y="4937760"/>
            <a:ext cx="566928" cy="56692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4882896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</a:rPr>
              <a:t>Consumido desde fuera, sin acceso al servidor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5266944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</a:rPr>
              <a:t>Postman llega a la API sin VPN y sin ninguna ruta directa al sistema SAP.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Qué sustituye a qué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32588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453C"/>
                </a:solidFill>
              </a:rPr>
              <a:t>SAP PI/PO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56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572"/>
                </a:solidFill>
              </a:rPr>
              <a:t>El modelo actual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Middleware dedicado que hay que operar y mantener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Lógica repartida entre el ESR y el Integration Directory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Cada interfaz se construye punto a punto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El contrato no es auto-descriptivo: se documenta aparte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chemeClr val="tx1"/>
                </a:solidFill>
              </a:rPr>
              <a:t>Horizonte de mantenimiento definido</a:t>
            </a:r>
            <a:endParaRPr lang="en-US" sz="1450" dirty="0"/>
          </a:p>
        </p:txBody>
      </p:sp>
      <p:sp>
        <p:nvSpPr>
          <p:cNvPr id="7" name="tarjeta"/>
          <p:cNvSpPr/>
          <p:nvPr/>
        </p:nvSpPr>
        <p:spPr>
          <a:xfrm>
            <a:off x="6172200" y="132588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RAP + SAP BTP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195681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C7C6"/>
                </a:solidFill>
              </a:rPr>
              <a:t>El modelo propuesto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77440"/>
            <a:ext cx="48463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La lógica vive en S/4HANA, como objeto de negocio versionado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Un único modelo: datos, comportamiento y autorización juntos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La API se reutiliza desde cualquier consumidor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El contrato se publica solo y es verificable ($metadata)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Gobierno en BTP: punto de entrada único, claves y cuotas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Arquitectura de la solución</a:t>
            </a:r>
            <a:endParaRPr lang="en-US" sz="3400" dirty="0"/>
          </a:p>
        </p:txBody>
      </p:sp>
      <p:sp>
        <p:nvSpPr>
          <p:cNvPr id="3" name="bloque"/>
          <p:cNvSpPr/>
          <p:nvPr/>
        </p:nvSpPr>
        <p:spPr>
          <a:xfrm>
            <a:off x="548640" y="2057400"/>
            <a:ext cx="2386584" cy="1600200"/>
          </a:xfrm>
          <a:prstGeom prst="roundRect">
            <a:avLst>
              <a:gd name="adj" fmla="val 6857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244144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Postman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8803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6"/>
                </a:solidFill>
              </a:rPr>
              <a:t>Consumidor externo</a:t>
            </a:r>
            <a:endParaRPr lang="en-US" sz="1200" dirty="0"/>
          </a:p>
        </p:txBody>
      </p:sp>
      <p:sp>
        <p:nvSpPr>
          <p:cNvPr id="6" name="flecha"/>
          <p:cNvSpPr/>
          <p:nvPr/>
        </p:nvSpPr>
        <p:spPr>
          <a:xfrm>
            <a:off x="3035808" y="2702052"/>
            <a:ext cx="365760" cy="310896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bloque"/>
          <p:cNvSpPr/>
          <p:nvPr/>
        </p:nvSpPr>
        <p:spPr>
          <a:xfrm>
            <a:off x="3438144" y="2057400"/>
            <a:ext cx="2386584" cy="1600200"/>
          </a:xfrm>
          <a:prstGeom prst="roundRect">
            <a:avLst>
              <a:gd name="adj" fmla="val 6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47872" y="244144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API Management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47872" y="28803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6"/>
                </a:solidFill>
              </a:rPr>
              <a:t>SAP BTP</a:t>
            </a:r>
            <a:endParaRPr lang="en-US" sz="1200" dirty="0"/>
          </a:p>
        </p:txBody>
      </p:sp>
      <p:sp>
        <p:nvSpPr>
          <p:cNvPr id="10" name="flecha"/>
          <p:cNvSpPr/>
          <p:nvPr/>
        </p:nvSpPr>
        <p:spPr>
          <a:xfrm>
            <a:off x="5925312" y="2702052"/>
            <a:ext cx="365760" cy="310896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bloque"/>
          <p:cNvSpPr/>
          <p:nvPr/>
        </p:nvSpPr>
        <p:spPr>
          <a:xfrm>
            <a:off x="6327648" y="2057400"/>
            <a:ext cx="2386584" cy="1600200"/>
          </a:xfrm>
          <a:prstGeom prst="roundRect">
            <a:avLst>
              <a:gd name="adj" fmla="val 6857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37376" y="244144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Cloud Connector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28803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6"/>
                </a:solidFill>
              </a:rPr>
              <a:t>Túnel seguro</a:t>
            </a:r>
            <a:endParaRPr lang="en-US" sz="1200" dirty="0"/>
          </a:p>
        </p:txBody>
      </p:sp>
      <p:sp>
        <p:nvSpPr>
          <p:cNvPr id="14" name="flecha"/>
          <p:cNvSpPr/>
          <p:nvPr/>
        </p:nvSpPr>
        <p:spPr>
          <a:xfrm>
            <a:off x="8814816" y="2702052"/>
            <a:ext cx="365760" cy="310896"/>
          </a:xfrm>
          <a:prstGeom prst="rightArrow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bloque"/>
          <p:cNvSpPr/>
          <p:nvPr/>
        </p:nvSpPr>
        <p:spPr>
          <a:xfrm>
            <a:off x="9217152" y="2057400"/>
            <a:ext cx="2386584" cy="1600200"/>
          </a:xfrm>
          <a:prstGeom prst="roundRect">
            <a:avLst>
              <a:gd name="adj" fmla="val 6857"/>
            </a:avLst>
          </a:prstGeom>
          <a:solidFill>
            <a:srgbClr val="1C3F55"/>
          </a:solidFill>
          <a:ln w="12700">
            <a:solidFill>
              <a:srgbClr val="1C3F55"/>
            </a:solidFill>
            <a:prstDash val="solid"/>
          </a:ln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326880" y="244144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S/4HANA 2023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8803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7C6"/>
                </a:solidFill>
              </a:rPr>
              <a:t>ZAPI_CUSTOMER (RAP)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157276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</a:rPr>
              <a:t>SAP BTP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226296" y="1572768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C3F55"/>
                </a:solidFill>
              </a:rPr>
              <a:t>On-premise</a:t>
            </a:r>
            <a:endParaRPr lang="en-US" sz="1200" dirty="0"/>
          </a:p>
        </p:txBody>
      </p:sp>
      <p:sp>
        <p:nvSpPr>
          <p:cNvPr id="20" name="tarjeta"/>
          <p:cNvSpPr/>
          <p:nvPr/>
        </p:nvSpPr>
        <p:spPr>
          <a:xfrm>
            <a:off x="548640" y="42062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40740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A26"/>
                </a:solidFill>
              </a:rPr>
              <a:t>La lógica de negocio no se mueve. </a:t>
            </a:r>
            <a:pPr indent="0" marL="0">
              <a:buNone/>
            </a:pPr>
            <a:r>
              <a:rPr lang="en-US" sz="1450" dirty="0">
                <a:solidFill>
                  <a:srgbClr val="4A6572"/>
                </a:solidFill>
              </a:rPr>
              <a:t>Vive en S/4HANA como un objeto RAP. BTP cumple exactamente el papel que cumplía PI/PO: expone la interfaz hacia fuera, la asegura y la publica. La diferencia es que ahora el contrato es un estándar abierto y la pieza intermedia no guarda lógica propia.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Modelo de datos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302666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452628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SE11 - tabla ZCXTA_CUSTOMERS activa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Tabla transparente propia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920240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Seis campos, clave por mandante y número de cliente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Elementos de datos estándar de SAP: KUNNR, ORT01, REGIO, LAND1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POLIZA, CHAR(10), campo propio del caso de negocio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 tabla arranca vacía: los datos entran por la API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Vista CDS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La raíz del objeto de negocio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611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define root view entity: es lo que convierte la vista en raíz de un objeto RAP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Los campos se renombran al lenguaje del consumidor: Customer, CityName, PolicyNumber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 mandante lo gestiona la vista, no se expone</a:t>
            </a:r>
            <a:endParaRPr lang="en-US" sz="1350" dirty="0"/>
          </a:p>
        </p:txBody>
      </p:sp>
      <p:pic>
        <p:nvPicPr>
          <p:cNvPr id="7" name="captura" descr="/tmp/claude-0/-home-user-Oneconnect-ECC/2712f76c-02a4-54fa-b34f-852fc48920c2/scratchpad/deck/img/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0" y="1371600"/>
            <a:ext cx="7132320" cy="2862072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8" name="Text 5"/>
          <p:cNvSpPr txBox="1"/>
          <p:nvPr/>
        </p:nvSpPr>
        <p:spPr>
          <a:xfrm>
            <a:off x="4480560" y="43616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ADT - ZCX_CUSTOMER activa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Comportamiento transaccional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223760" cy="366674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1663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ADT - behavior definition ZCX_CUSTOMER activa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Declarar, no programar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1920240"/>
            <a:ext cx="3520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create, update y delete se declaran; el framework los implementa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managed: bloqueo, transaccionalidad y persistencia los pone RAP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 mapeo entre los campos del modelo y los de la tabla es declarativo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 autorización se resuelve en una clase, no en cada operación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4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Servicio OData V4 publicado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1064240" cy="380390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4132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ADT - service binding ZAPI_CUSTOMER_O4 en estado Published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5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El contrato se publica solo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1371600"/>
            <a:ext cx="8449056" cy="35661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0657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$metadata del servicio: EDMX 4.0 con la entidad Customer y sus cinco campos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6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Túnel seguro: SAP Cloud Connector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440680" cy="2944368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45537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Túnel establecido contra la subcuenta de BTP</a:t>
            </a:r>
            <a:endParaRPr lang="en-US" sz="1100" dirty="0"/>
          </a:p>
        </p:txBody>
      </p:sp>
      <p:pic>
        <p:nvPicPr>
          <p:cNvPr id="7" name="captura" descr="/tmp/claude-0/-home-user-Oneconnect-ECC/2712f76c-02a4-54fa-b34f-852fc48920c2/scratchpad/deck/img/2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481328"/>
            <a:ext cx="5440680" cy="256946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8" name="Text 4"/>
          <p:cNvSpPr txBox="1"/>
          <p:nvPr/>
        </p:nvSpPr>
        <p:spPr>
          <a:xfrm>
            <a:off x="6172200" y="4553712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Mapeo alcanzable y recurso autorizado</a:t>
            </a:r>
            <a:endParaRPr lang="en-US" sz="1100" dirty="0"/>
          </a:p>
        </p:txBody>
      </p:sp>
      <p:sp>
        <p:nvSpPr>
          <p:cNvPr id="9" name="tarjeta"/>
          <p:cNvSpPr/>
          <p:nvPr/>
        </p:nvSpPr>
        <p:spPr>
          <a:xfrm>
            <a:off x="548640" y="489204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EEF3F6"/>
          </a:solidFill>
          <a:ln w="12700">
            <a:solidFill>
              <a:srgbClr val="EEF3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68680" y="50292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572"/>
                </a:solidFill>
              </a:rPr>
              <a:t>Ningún puerto del sistema SAP queda abierto hacia internet. El conector abre la conexión desde dentro y solo deja pasar la ruta declarada explícitamente: /sap/opu/odata4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7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Destination en BTP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" y="1371600"/>
            <a:ext cx="6647688" cy="39319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43153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Check Connection: Backend is reachable from the Cloud Connector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77240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punto de control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1920240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Prueba la cadena completa desde el lado de la nube antes de montar nada encima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Apunta al host virtual, nunca a la dirección real del servidor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Las credenciales quedan guardadas en BTP, no en el consumidor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8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API Management operativo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9636" y="1371600"/>
            <a:ext cx="8842248" cy="356616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06577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Integration Suite - runtime de API Management activo y aprovisionado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"/>
          <p:cNvSpPr/>
          <p:nvPr/>
        </p:nvSpPr>
        <p:spPr>
          <a:xfrm>
            <a:off x="548640" y="429768"/>
            <a:ext cx="512064" cy="51206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29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9</a:t>
            </a:r>
            <a:endParaRPr lang="en-US" sz="1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1207008" y="384048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API Provider y proxy desplegado</a:t>
            </a:r>
            <a:endParaRPr lang="en-US" sz="3200" dirty="0"/>
          </a:p>
        </p:txBody>
      </p:sp>
      <p:pic>
        <p:nvPicPr>
          <p:cNvPr id="5" name="captura" descr="/tmp/claude-0/-home-user-Oneconnect-ECC/2712f76c-02a4-54fa-b34f-852fc48920c2/scratchpad/deck/img/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371600"/>
            <a:ext cx="6327648" cy="3931920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48640" y="5431536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572"/>
                </a:solidFill>
              </a:rPr>
              <a:t>Proxy PoC_Customer_v1 desplegado, con su URL pública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El punto de entrada único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1920240"/>
            <a:ext cx="41148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 API Provider apunta al host virtual del Cloud Connector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 proxy publica una URL propia, independiente del backend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Sobre esa URL se aplican después clave de API, cuotas y políticas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El consumidor nunca conoce la dirección ni las credenciales del sistema SAP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La cadena completa, verificada</a:t>
            </a:r>
            <a:endParaRPr lang="en-US" sz="3400" dirty="0"/>
          </a:p>
        </p:txBody>
      </p:sp>
      <p:pic>
        <p:nvPicPr>
          <p:cNvPr id="3" name="captura" descr="/tmp/claude-0/-home-user-Oneconnect-ECC/2712f76c-02a4-54fa-b34f-852fc48920c2/scratchpad/deck/img/3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255264"/>
          </a:xfrm>
          <a:prstGeom prst="rect">
            <a:avLst/>
          </a:prstGeom>
          <a:effectLst>
            <a:outerShdw sx="100000" sy="100000" kx="0" ky="0" algn="bl" rotWithShape="0" blurRad="177800" dist="38100" dir="5400000">
              <a:srgbClr val="0E1A26">
                <a:alpha val="22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48640" y="48646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A33D"/>
                </a:solidFill>
              </a:rPr>
              <a:t>200 OK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49377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Postman  -&gt;  API Management  -&gt;  Cloud Connector  -&gt;  S/4HANA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3657600" y="5276088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6"/>
                </a:solidFill>
              </a:rPr>
              <a:t>La respuesta la emite el servicio ZAPI_CUSTOMER del propio S/4HANA, autenticada y a través de BTP. No hay ruta directa entre el consumidor y el sistema SAP.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Demo en vivo: alta de un cliente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325880"/>
            <a:ext cx="6720840" cy="3977640"/>
          </a:xfrm>
          <a:prstGeom prst="roundRect">
            <a:avLst>
              <a:gd name="adj" fmla="val 2299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361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</a:rPr>
              <a:t>POST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783080" y="153619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C7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/e5a2c3d7trial/100/poc/customer/v1/Customer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57400"/>
            <a:ext cx="6080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"Customer":     "0000001000",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"CityName":     "Monterrey",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"Region":       "NLE",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"Country":      "MX",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"PolicyNumber": "POL0000001"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04164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</a:rPr>
              <a:t>201 Created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498848"/>
            <a:ext cx="6080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7C6"/>
                </a:solidFill>
              </a:rPr>
              <a:t>y el registro aparece en la tabla de S/4HANA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1463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 que se verá en pantalla</a:t>
            </a:r>
            <a:endParaRPr lang="en-US" sz="1800" dirty="0"/>
          </a:p>
        </p:txBody>
      </p:sp>
      <p:sp>
        <p:nvSpPr>
          <p:cNvPr id="10" name="paso"/>
          <p:cNvSpPr/>
          <p:nvPr/>
        </p:nvSpPr>
        <p:spPr>
          <a:xfrm>
            <a:off x="7589520" y="1938528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1920240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Comprobar que la tabla está vacía en SE16N</a:t>
            </a:r>
            <a:endParaRPr lang="en-US" sz="1400" dirty="0"/>
          </a:p>
        </p:txBody>
      </p:sp>
      <p:sp>
        <p:nvSpPr>
          <p:cNvPr id="13" name="paso"/>
          <p:cNvSpPr/>
          <p:nvPr/>
        </p:nvSpPr>
        <p:spPr>
          <a:xfrm>
            <a:off x="7589520" y="2651760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119872" y="2633472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Pedir el token de sesión a la API</a:t>
            </a:r>
            <a:endParaRPr lang="en-US" sz="1400" dirty="0"/>
          </a:p>
        </p:txBody>
      </p:sp>
      <p:sp>
        <p:nvSpPr>
          <p:cNvPr id="16" name="paso"/>
          <p:cNvSpPr/>
          <p:nvPr/>
        </p:nvSpPr>
        <p:spPr>
          <a:xfrm>
            <a:off x="7589520" y="3364992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19872" y="3346704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Enviar el alta desde Postman contra la URL de BTP</a:t>
            </a:r>
            <a:endParaRPr lang="en-US" sz="1400" dirty="0"/>
          </a:p>
        </p:txBody>
      </p:sp>
      <p:sp>
        <p:nvSpPr>
          <p:cNvPr id="19" name="paso"/>
          <p:cNvSpPr/>
          <p:nvPr/>
        </p:nvSpPr>
        <p:spPr>
          <a:xfrm>
            <a:off x="7589520" y="4078224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58952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19872" y="4059936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Volver a SE16N: el registro está ahí</a:t>
            </a:r>
            <a:endParaRPr lang="en-US" sz="1400" dirty="0"/>
          </a:p>
        </p:txBody>
      </p:sp>
      <p:sp>
        <p:nvSpPr>
          <p:cNvPr id="22" name="paso"/>
          <p:cNvSpPr/>
          <p:nvPr/>
        </p:nvSpPr>
        <p:spPr>
          <a:xfrm>
            <a:off x="7589520" y="4791456"/>
            <a:ext cx="384048" cy="38404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4791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119872" y="4773168"/>
            <a:ext cx="3511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Actualizar la póliza con un PATCH y comprobarlo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Qué falta y qué asumimos</a:t>
            </a:r>
            <a:endParaRPr lang="en-US" sz="3400" dirty="0"/>
          </a:p>
        </p:txBody>
      </p:sp>
      <p:sp>
        <p:nvSpPr>
          <p:cNvPr id="3" name="tarjeta"/>
          <p:cNvSpPr/>
          <p:nvPr/>
        </p:nvSpPr>
        <p:spPr>
          <a:xfrm>
            <a:off x="548640" y="132588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1C3F55"/>
          </a:solidFill>
          <a:ln w="12700">
            <a:solidFill>
              <a:srgbClr val="1C3F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Próximos pasos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Clave de API, producto y portal de desarrolladores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Políticas de cuota y límite de peticiones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Replicar la configuración en la subcuenta corporativa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Usuario de servicio dedicado, en vez del de desarrollo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Aplicar el patrón a la primera interfaz real de PI/PO</a:t>
            </a:r>
            <a:endParaRPr lang="en-US" sz="1450" dirty="0"/>
          </a:p>
        </p:txBody>
      </p:sp>
      <p:sp>
        <p:nvSpPr>
          <p:cNvPr id="6" name="tarjeta"/>
          <p:cNvSpPr/>
          <p:nvPr/>
        </p:nvSpPr>
        <p:spPr>
          <a:xfrm>
            <a:off x="6172200" y="1325880"/>
            <a:ext cx="5440680" cy="3429000"/>
          </a:xfrm>
          <a:prstGeom prst="roundRect">
            <a:avLst>
              <a:gd name="adj" fmla="val 2667"/>
            </a:avLst>
          </a:prstGeom>
          <a:solidFill>
            <a:srgbClr val="4A6572"/>
          </a:solidFill>
          <a:ln w="12700">
            <a:solidFill>
              <a:srgbClr val="4A657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55448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Desviaciones asumidas del PoC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01168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El tramo conector a S/4HANA va por HTTP: el appliance usa un certificado autofirmado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Se trabaja sobre una cuenta trial de BTP mientras se habilita la corporativa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El paquete está en ABAP estándar, no en ABAP for Cloud Development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</a:rPr>
              <a:t>Se usa el usuario de desarrollo, no uno de servicio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Ninguna de estas desviaciones afecta al patrón. </a:t>
            </a:r>
            <a:pPr indent="0" marL="0">
              <a:buNone/>
            </a:pPr>
            <a:r>
              <a:rPr lang="en-US" sz="1500" dirty="0">
                <a:solidFill>
                  <a:srgbClr val="9FC7C6"/>
                </a:solidFill>
              </a:rPr>
              <a:t>Todas son decisiones tomadas para no bloquear la prueba, y cada una tiene su alternativa definida para el despliegue real.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327648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65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C Migracion Interfaces">
  <a:themeElements>
    <a:clrScheme name="PoC Migracion Interfaces">
      <a:dk1>
        <a:srgbClr val="0E1A26"/>
      </a:dk1>
      <a:lt1>
        <a:srgbClr val="FFFFFF"/>
      </a:lt1>
      <a:dk2>
        <a:srgbClr val="1C3F55"/>
      </a:dk2>
      <a:lt2>
        <a:srgbClr val="EEF3F6"/>
      </a:lt2>
      <a:accent1>
        <a:srgbClr val="0E7C7B"/>
      </a:accent1>
      <a:accent2>
        <a:srgbClr val="E8A33D"/>
      </a:accent2>
      <a:accent3>
        <a:srgbClr val="1C7293"/>
      </a:accent3>
      <a:accent4>
        <a:srgbClr val="4A6572"/>
      </a:accent4>
      <a:accent5>
        <a:srgbClr val="9FC7C6"/>
      </a:accent5>
      <a:accent6>
        <a:srgbClr val="B5453C"/>
      </a:accent6>
      <a:hlink>
        <a:srgbClr val="0E7C7B"/>
      </a:hlink>
      <a:folHlink>
        <a:srgbClr val="4A6572"/>
      </a:folHlink>
    </a:clrScheme>
    <a:fontScheme name="PoC Migracion Interfac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Onibex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 - Migración de interfaces PI/PO a RAP + BTP</dc:title>
  <dc:subject>Prueba de concepto de migración de interfaces</dc:subject>
  <dc:creator>Onibex</dc:creator>
  <cp:lastModifiedBy>Onibex</cp:lastModifiedBy>
  <cp:revision>1</cp:revision>
  <dcterms:created xsi:type="dcterms:W3CDTF">2026-10-21T12:34:49Z</dcterms:created>
  <dcterms:modified xsi:type="dcterms:W3CDTF">2026-10-21T12:34:49Z</dcterms:modified>
</cp:coreProperties>
</file>